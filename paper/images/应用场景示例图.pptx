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图说明了生成式语义通信在车联网场景中的典型应用流程。车辆利用车载视觉传感器获取环境信息，并根据任务需求提取关键语义</a:t>
            </a:r>
            <a:r>
              <a:rPr lang="en-US" altLang="zh-CN"/>
              <a:t>token，</a:t>
            </a:r>
            <a:r>
              <a:rPr lang="zh-CN" altLang="en-US"/>
              <a:t>通过动态</a:t>
            </a:r>
            <a:r>
              <a:rPr lang="en-US" altLang="zh-CN"/>
              <a:t>V2I</a:t>
            </a:r>
            <a:r>
              <a:rPr lang="zh-CN" altLang="en-US"/>
              <a:t>链路上传至</a:t>
            </a:r>
            <a:r>
              <a:rPr lang="en-US" altLang="zh-CN"/>
              <a:t>RSU。</a:t>
            </a:r>
            <a:r>
              <a:rPr lang="zh-CN" altLang="en-US"/>
              <a:t>边缘侧生成式语义模型进一步恢复任务相关信息，实现高效的道路场景理解与语义交互。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cene-sky"/>
          <p:cNvSpPr>
            <a:spLocks noGrp="1"/>
          </p:cNvSpPr>
          <p:nvPr/>
        </p:nvSpPr>
        <p:spPr>
          <a:xfrm>
            <a:off x="533400" y="1409700"/>
            <a:ext cx="14173200" cy="6153150"/>
          </a:xfrm>
          <a:prstGeom prst="rect">
            <a:avLst/>
          </a:prstGeom>
          <a:solidFill>
            <a:srgbClr val="F4F8FC"/>
          </a:solidFill>
          <a:ln w="9525">
            <a:solidFill>
              <a:srgbClr val="C7D0DA"/>
            </a:solidFill>
            <a:prstDash val="solid"/>
          </a:ln>
        </p:spPr>
      </p:sp>
      <p:sp>
        <p:nvSpPr>
          <p:cNvPr id="6" name="upper-sidewalk"/>
          <p:cNvSpPr>
            <a:spLocks noGrp="1"/>
          </p:cNvSpPr>
          <p:nvPr/>
        </p:nvSpPr>
        <p:spPr>
          <a:xfrm>
            <a:off x="533400" y="4191000"/>
            <a:ext cx="10287000" cy="190500"/>
          </a:xfrm>
          <a:prstGeom prst="rect">
            <a:avLst/>
          </a:prstGeom>
          <a:solidFill>
            <a:srgbClr val="D9DEE5"/>
          </a:solidFill>
          <a:ln w="0">
            <a:solidFill>
              <a:srgbClr val="D9DEE5"/>
            </a:solidFill>
            <a:prstDash val="solid"/>
          </a:ln>
        </p:spPr>
      </p:sp>
      <p:sp>
        <p:nvSpPr>
          <p:cNvPr id="7" name="road"/>
          <p:cNvSpPr>
            <a:spLocks noGrp="1"/>
          </p:cNvSpPr>
          <p:nvPr/>
        </p:nvSpPr>
        <p:spPr>
          <a:xfrm>
            <a:off x="533400" y="4381500"/>
            <a:ext cx="10287000" cy="2800350"/>
          </a:xfrm>
          <a:prstGeom prst="rect">
            <a:avLst/>
          </a:prstGeom>
          <a:solidFill>
            <a:srgbClr val="444C57"/>
          </a:solidFill>
          <a:ln w="19050">
            <a:solidFill>
              <a:srgbClr val="2E353E"/>
            </a:solidFill>
            <a:prstDash val="solid"/>
          </a:ln>
        </p:spPr>
      </p:sp>
      <p:sp>
        <p:nvSpPr>
          <p:cNvPr id="9" name="RoadScene__camera_fov"/>
          <p:cNvSpPr>
            <a:spLocks noGrp="1"/>
          </p:cNvSpPr>
          <p:nvPr/>
        </p:nvSpPr>
        <p:spPr>
          <a:xfrm>
            <a:off x="4972050" y="5686425"/>
            <a:ext cx="3483610" cy="1495425"/>
          </a:xfrm>
          <a:custGeom>
            <a:avLst/>
            <a:gdLst/>
            <a:ahLst/>
            <a:cxnLst/>
            <a:pathLst>
              <a:path w="1619250" h="457200">
                <a:moveTo>
                  <a:pt x="0" y="228600"/>
                </a:moveTo>
                <a:lnTo>
                  <a:pt x="1619250" y="0"/>
                </a:lnTo>
                <a:lnTo>
                  <a:pt x="1619250" y="457200"/>
                </a:lnTo>
                <a:close/>
              </a:path>
            </a:pathLst>
          </a:custGeom>
          <a:solidFill>
            <a:srgbClr val="B9DEF0">
              <a:alpha val="45000"/>
            </a:srgbClr>
          </a:solidFill>
          <a:ln w="10478">
            <a:solidFill>
              <a:srgbClr val="B9DEF0">
                <a:alpha val="70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lower-sidewalk"/>
          <p:cNvSpPr>
            <a:spLocks noGrp="1"/>
          </p:cNvSpPr>
          <p:nvPr/>
        </p:nvSpPr>
        <p:spPr>
          <a:xfrm>
            <a:off x="533400" y="7181850"/>
            <a:ext cx="10287000" cy="171450"/>
          </a:xfrm>
          <a:prstGeom prst="rect">
            <a:avLst/>
          </a:prstGeom>
          <a:solidFill>
            <a:srgbClr val="D9DEE5"/>
          </a:solidFill>
          <a:ln w="0">
            <a:solidFill>
              <a:srgbClr val="D9DEE5"/>
            </a:solidFill>
            <a:prstDash val="solid"/>
          </a:ln>
        </p:spPr>
      </p:sp>
      <p:sp>
        <p:nvSpPr>
          <p:cNvPr id="10" name="road-top-edge"/>
          <p:cNvSpPr>
            <a:spLocks noGrp="1"/>
          </p:cNvSpPr>
          <p:nvPr/>
        </p:nvSpPr>
        <p:spPr>
          <a:xfrm>
            <a:off x="533400" y="4495800"/>
            <a:ext cx="10287000" cy="285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1" name="road-bottom-edge"/>
          <p:cNvSpPr>
            <a:spLocks noGrp="1"/>
          </p:cNvSpPr>
          <p:nvPr/>
        </p:nvSpPr>
        <p:spPr>
          <a:xfrm>
            <a:off x="533400" y="7038975"/>
            <a:ext cx="10287000" cy="285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2" name="lane-dash-88"/>
          <p:cNvSpPr>
            <a:spLocks noGrp="1"/>
          </p:cNvSpPr>
          <p:nvPr/>
        </p:nvSpPr>
        <p:spPr>
          <a:xfrm>
            <a:off x="838200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3" name="lane-dash-193"/>
          <p:cNvSpPr>
            <a:spLocks noGrp="1"/>
          </p:cNvSpPr>
          <p:nvPr/>
        </p:nvSpPr>
        <p:spPr>
          <a:xfrm>
            <a:off x="1838325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4" name="lane-dash-298"/>
          <p:cNvSpPr>
            <a:spLocks noGrp="1"/>
          </p:cNvSpPr>
          <p:nvPr/>
        </p:nvSpPr>
        <p:spPr>
          <a:xfrm>
            <a:off x="2838450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5" name="lane-dash-403"/>
          <p:cNvSpPr>
            <a:spLocks noGrp="1"/>
          </p:cNvSpPr>
          <p:nvPr/>
        </p:nvSpPr>
        <p:spPr>
          <a:xfrm>
            <a:off x="3838575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6" name="lane-dash-508"/>
          <p:cNvSpPr>
            <a:spLocks noGrp="1"/>
          </p:cNvSpPr>
          <p:nvPr/>
        </p:nvSpPr>
        <p:spPr>
          <a:xfrm>
            <a:off x="4838700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7" name="lane-dash-613"/>
          <p:cNvSpPr>
            <a:spLocks noGrp="1"/>
          </p:cNvSpPr>
          <p:nvPr/>
        </p:nvSpPr>
        <p:spPr>
          <a:xfrm>
            <a:off x="5838825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8" name="lane-dash-718"/>
          <p:cNvSpPr>
            <a:spLocks noGrp="1"/>
          </p:cNvSpPr>
          <p:nvPr/>
        </p:nvSpPr>
        <p:spPr>
          <a:xfrm>
            <a:off x="6838950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19" name="lane-dash-823"/>
          <p:cNvSpPr>
            <a:spLocks noGrp="1"/>
          </p:cNvSpPr>
          <p:nvPr/>
        </p:nvSpPr>
        <p:spPr>
          <a:xfrm>
            <a:off x="7839075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0" name="lane-dash-928"/>
          <p:cNvSpPr>
            <a:spLocks noGrp="1"/>
          </p:cNvSpPr>
          <p:nvPr/>
        </p:nvSpPr>
        <p:spPr>
          <a:xfrm>
            <a:off x="8839200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1" name="lane-dash-1033"/>
          <p:cNvSpPr>
            <a:spLocks noGrp="1"/>
          </p:cNvSpPr>
          <p:nvPr/>
        </p:nvSpPr>
        <p:spPr>
          <a:xfrm>
            <a:off x="9839325" y="5724525"/>
            <a:ext cx="581025" cy="66675"/>
          </a:xfrm>
          <a:prstGeom prst="rect">
            <a:avLst/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</p:sp>
      <p:sp>
        <p:nvSpPr>
          <p:cNvPr id="22" name="traffic-flow-label"/>
          <p:cNvSpPr>
            <a:spLocks noGrp="1"/>
          </p:cNvSpPr>
          <p:nvPr/>
        </p:nvSpPr>
        <p:spPr>
          <a:xfrm>
            <a:off x="742950" y="671512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 i="0">
                <a:solidFill>
                  <a:srgbClr val="D5DAE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D5DAE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TRAFFIC FLOW</a:t>
            </a:r>
            <a:endParaRPr sz="1200" b="1" i="0">
              <a:solidFill>
                <a:srgbClr val="D5DAE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traffic-flow-arrow"/>
          <p:cNvSpPr>
            <a:spLocks noGrp="1"/>
          </p:cNvSpPr>
          <p:nvPr/>
        </p:nvSpPr>
        <p:spPr>
          <a:xfrm>
            <a:off x="2152650" y="6753225"/>
            <a:ext cx="857250" cy="171450"/>
          </a:xfrm>
          <a:prstGeom prst="rightArrow">
            <a:avLst/>
          </a:prstGeom>
          <a:solidFill>
            <a:srgbClr val="D5DAE1"/>
          </a:solidFill>
          <a:ln w="0">
            <a:solidFill>
              <a:srgbClr val="D5DAE1"/>
            </a:solidFill>
            <a:prstDash val="solid"/>
          </a:ln>
        </p:spPr>
      </p:sp>
      <p:sp>
        <p:nvSpPr>
          <p:cNvPr id="24" name="cloud-out-anchor"/>
          <p:cNvSpPr>
            <a:spLocks noGrp="1"/>
          </p:cNvSpPr>
          <p:nvPr/>
        </p:nvSpPr>
        <p:spPr>
          <a:xfrm>
            <a:off x="9992995" y="21240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dge-cloud-anchor"/>
          <p:cNvSpPr>
            <a:spLocks noGrp="1"/>
          </p:cNvSpPr>
          <p:nvPr/>
        </p:nvSpPr>
        <p:spPr>
          <a:xfrm>
            <a:off x="11277600" y="25050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edge-output-anchor"/>
          <p:cNvSpPr>
            <a:spLocks noGrp="1"/>
          </p:cNvSpPr>
          <p:nvPr/>
        </p:nvSpPr>
        <p:spPr>
          <a:xfrm>
            <a:off x="12954000" y="374332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ask-output-anchor"/>
          <p:cNvSpPr>
            <a:spLocks noGrp="1"/>
          </p:cNvSpPr>
          <p:nvPr/>
        </p:nvSpPr>
        <p:spPr>
          <a:xfrm>
            <a:off x="12954000" y="48768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x-callout-anchor"/>
          <p:cNvSpPr>
            <a:spLocks noGrp="1"/>
          </p:cNvSpPr>
          <p:nvPr/>
        </p:nvSpPr>
        <p:spPr>
          <a:xfrm>
            <a:off x="4953000" y="33147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vehicle-k-callout-anchor"/>
          <p:cNvSpPr>
            <a:spLocks noGrp="1"/>
          </p:cNvSpPr>
          <p:nvPr/>
        </p:nvSpPr>
        <p:spPr>
          <a:xfrm>
            <a:off x="4600575" y="607695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veh1-uplink-anchor"/>
          <p:cNvSpPr>
            <a:spLocks noGrp="1"/>
          </p:cNvSpPr>
          <p:nvPr/>
        </p:nvSpPr>
        <p:spPr>
          <a:xfrm>
            <a:off x="2647950" y="501015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vehk-uplink-anchor"/>
          <p:cNvSpPr>
            <a:spLocks noGrp="1"/>
          </p:cNvSpPr>
          <p:nvPr/>
        </p:nvSpPr>
        <p:spPr>
          <a:xfrm>
            <a:off x="5029200" y="63150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vehk-feedback-anchor"/>
          <p:cNvSpPr>
            <a:spLocks noGrp="1"/>
          </p:cNvSpPr>
          <p:nvPr/>
        </p:nvSpPr>
        <p:spPr>
          <a:xfrm>
            <a:off x="4714875" y="63150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vehk-feedback-turn"/>
          <p:cNvSpPr>
            <a:spLocks noGrp="1"/>
          </p:cNvSpPr>
          <p:nvPr/>
        </p:nvSpPr>
        <p:spPr>
          <a:xfrm>
            <a:off x="7191375" y="409575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vehk-feedback-turn2"/>
          <p:cNvSpPr>
            <a:spLocks noGrp="1"/>
          </p:cNvSpPr>
          <p:nvPr/>
        </p:nvSpPr>
        <p:spPr>
          <a:xfrm>
            <a:off x="9858375" y="37338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vehk-feedback-start"/>
          <p:cNvSpPr>
            <a:spLocks noGrp="1"/>
          </p:cNvSpPr>
          <p:nvPr/>
        </p:nvSpPr>
        <p:spPr>
          <a:xfrm>
            <a:off x="10363200" y="37242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vehk-uplink-mid"/>
          <p:cNvSpPr>
            <a:spLocks noGrp="1"/>
          </p:cNvSpPr>
          <p:nvPr/>
        </p:nvSpPr>
        <p:spPr>
          <a:xfrm>
            <a:off x="7400925" y="49530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vehk-uplink-mid2"/>
          <p:cNvSpPr>
            <a:spLocks noGrp="1"/>
          </p:cNvSpPr>
          <p:nvPr/>
        </p:nvSpPr>
        <p:spPr>
          <a:xfrm>
            <a:off x="9601200" y="41148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vehk-uplink-target"/>
          <p:cNvSpPr>
            <a:spLocks noGrp="1"/>
          </p:cNvSpPr>
          <p:nvPr/>
        </p:nvSpPr>
        <p:spPr>
          <a:xfrm>
            <a:off x="10477500" y="37338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vehk-sensor-anchor"/>
          <p:cNvSpPr>
            <a:spLocks noGrp="1"/>
          </p:cNvSpPr>
          <p:nvPr/>
        </p:nvSpPr>
        <p:spPr>
          <a:xfrm>
            <a:off x="5086350" y="652462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hazard-sensor-anchor"/>
          <p:cNvSpPr>
            <a:spLocks noGrp="1"/>
          </p:cNvSpPr>
          <p:nvPr/>
        </p:nvSpPr>
        <p:spPr>
          <a:xfrm>
            <a:off x="8410575" y="644842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vehk-alert-anchor"/>
          <p:cNvSpPr>
            <a:spLocks noGrp="1"/>
          </p:cNvSpPr>
          <p:nvPr/>
        </p:nvSpPr>
        <p:spPr>
          <a:xfrm>
            <a:off x="4838700" y="62865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ask-alert-anchor"/>
          <p:cNvSpPr>
            <a:spLocks noGrp="1"/>
          </p:cNvSpPr>
          <p:nvPr/>
        </p:nvSpPr>
        <p:spPr>
          <a:xfrm>
            <a:off x="11372850" y="649605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vehK-uplink-anchor"/>
          <p:cNvSpPr>
            <a:spLocks noGrp="1"/>
          </p:cNvSpPr>
          <p:nvPr/>
        </p:nvSpPr>
        <p:spPr>
          <a:xfrm>
            <a:off x="7781925" y="50958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su-target-1"/>
          <p:cNvSpPr>
            <a:spLocks noGrp="1"/>
          </p:cNvSpPr>
          <p:nvPr/>
        </p:nvSpPr>
        <p:spPr>
          <a:xfrm>
            <a:off x="10448925" y="3419475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su-target-2"/>
          <p:cNvSpPr>
            <a:spLocks noGrp="1"/>
          </p:cNvSpPr>
          <p:nvPr/>
        </p:nvSpPr>
        <p:spPr>
          <a:xfrm>
            <a:off x="10563225" y="361950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su-target-3"/>
          <p:cNvSpPr>
            <a:spLocks noGrp="1"/>
          </p:cNvSpPr>
          <p:nvPr/>
        </p:nvSpPr>
        <p:spPr>
          <a:xfrm>
            <a:off x="10668000" y="3829050"/>
            <a:ext cx="76200" cy="76200"/>
          </a:xfrm>
          <a:prstGeom prst="ellipse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00" name="cloud-to-edge-updates"/>
          <p:cNvCxnSpPr>
            <a:endCxn id="25" idx="2"/>
          </p:cNvCxnSpPr>
          <p:nvPr/>
        </p:nvCxnSpPr>
        <p:spPr>
          <a:xfrm flipV="1">
            <a:off x="10212705" y="2543175"/>
            <a:ext cx="1064895" cy="15240"/>
          </a:xfrm>
          <a:prstGeom prst="straightConnector1">
            <a:avLst/>
          </a:prstGeom>
          <a:ln w="28575">
            <a:solidFill>
              <a:srgbClr val="2F7BF6"/>
            </a:solidFill>
            <a:prstDash val="solid"/>
            <a:tailEnd type="triangle" w="sm" len="sm"/>
          </a:ln>
        </p:spPr>
      </p:cxnSp>
      <p:cxnSp>
        <p:nvCxnSpPr>
          <p:cNvPr id="201" name="edge-to-task-semantics"/>
          <p:cNvCxnSpPr>
            <a:stCxn id="26" idx="4"/>
            <a:endCxn id="27" idx="0"/>
          </p:cNvCxnSpPr>
          <p:nvPr/>
        </p:nvCxnSpPr>
        <p:spPr>
          <a:xfrm>
            <a:off x="12992100" y="3819525"/>
            <a:ext cx="0" cy="1057275"/>
          </a:xfrm>
          <a:prstGeom prst="straightConnector1">
            <a:avLst/>
          </a:prstGeom>
          <a:ln w="28575">
            <a:solidFill>
              <a:srgbClr val="F3A41C"/>
            </a:solidFill>
            <a:prstDash val="solid"/>
            <a:tailEnd type="triangle" w="sm" len="sm"/>
          </a:ln>
        </p:spPr>
      </p:cxnSp>
      <p:cxnSp>
        <p:nvCxnSpPr>
          <p:cNvPr id="202" name="vehicle-k-callout-line"/>
          <p:cNvCxnSpPr>
            <a:stCxn id="28" idx="4"/>
            <a:endCxn id="29" idx="0"/>
          </p:cNvCxnSpPr>
          <p:nvPr/>
        </p:nvCxnSpPr>
        <p:spPr>
          <a:xfrm flipH="1">
            <a:off x="4638675" y="3390900"/>
            <a:ext cx="352425" cy="26860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F7BF6"/>
            </a:solidFill>
            <a:prstDash val="dash"/>
          </a:ln>
        </p:spPr>
      </p:cxnSp>
      <p:cxnSp>
        <p:nvCxnSpPr>
          <p:cNvPr id="206" name="vehicle-k-uplink-segment-2"/>
          <p:cNvCxnSpPr>
            <a:stCxn id="120" idx="0"/>
            <a:endCxn id="96" idx="1"/>
          </p:cNvCxnSpPr>
          <p:nvPr/>
        </p:nvCxnSpPr>
        <p:spPr>
          <a:xfrm flipV="1">
            <a:off x="5019675" y="3848100"/>
            <a:ext cx="5314950" cy="2505075"/>
          </a:xfrm>
          <a:prstGeom prst="straightConnector1">
            <a:avLst/>
          </a:prstGeom>
          <a:ln w="38100">
            <a:solidFill>
              <a:srgbClr val="2F7BF6"/>
            </a:solidFill>
            <a:prstDash val="solid"/>
          </a:ln>
        </p:spPr>
      </p:cxnSp>
      <p:cxnSp>
        <p:nvCxnSpPr>
          <p:cNvPr id="209" name="feedback-segment-2"/>
          <p:cNvCxnSpPr/>
          <p:nvPr/>
        </p:nvCxnSpPr>
        <p:spPr>
          <a:xfrm flipH="1">
            <a:off x="4883785" y="3566160"/>
            <a:ext cx="5472430" cy="2592705"/>
          </a:xfrm>
          <a:prstGeom prst="straightConnector1">
            <a:avLst/>
          </a:prstGeom>
          <a:ln w="19050">
            <a:solidFill>
              <a:srgbClr val="5F6C7B"/>
            </a:solidFill>
            <a:prstDash val="dash"/>
          </a:ln>
        </p:spPr>
      </p:cxnSp>
      <p:sp>
        <p:nvSpPr>
          <p:cNvPr id="60" name="vehicle-transmitter-box"/>
          <p:cNvSpPr>
            <a:spLocks noGrp="1"/>
          </p:cNvSpPr>
          <p:nvPr/>
        </p:nvSpPr>
        <p:spPr>
          <a:xfrm>
            <a:off x="742950" y="1619250"/>
            <a:ext cx="508127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2F7BF6"/>
            </a:solidFill>
            <a:prstDash val="solid"/>
          </a:ln>
        </p:spPr>
      </p:sp>
      <p:sp>
        <p:nvSpPr>
          <p:cNvPr id="61" name="vehicle-transmitter-title"/>
          <p:cNvSpPr>
            <a:spLocks noGrp="1"/>
          </p:cNvSpPr>
          <p:nvPr/>
        </p:nvSpPr>
        <p:spPr>
          <a:xfrm>
            <a:off x="971550" y="1752600"/>
            <a:ext cx="47148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875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1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Veh. k: pragmatics-aware semantic transmitter</a:t>
            </a:r>
            <a:endParaRPr sz="161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vehicle-transmitter-rule"/>
          <p:cNvSpPr>
            <a:spLocks noGrp="1"/>
          </p:cNvSpPr>
          <p:nvPr/>
        </p:nvSpPr>
        <p:spPr>
          <a:xfrm>
            <a:off x="971550" y="2076450"/>
            <a:ext cx="4503420" cy="76200"/>
          </a:xfrm>
          <a:prstGeom prst="rect">
            <a:avLst/>
          </a:prstGeom>
          <a:solidFill>
            <a:srgbClr val="BFDFFF"/>
          </a:solidFill>
          <a:ln w="0">
            <a:solidFill>
              <a:srgbClr val="BFDFFF"/>
            </a:solidFill>
            <a:prstDash val="solid"/>
          </a:ln>
        </p:spPr>
      </p:sp>
      <p:sp>
        <p:nvSpPr>
          <p:cNvPr id="63" name="camera-prompt-mini-box"/>
          <p:cNvSpPr>
            <a:spLocks noGrp="1"/>
          </p:cNvSpPr>
          <p:nvPr/>
        </p:nvSpPr>
        <p:spPr>
          <a:xfrm>
            <a:off x="1000125" y="2276475"/>
            <a:ext cx="1352550" cy="895350"/>
          </a:xfrm>
          <a:prstGeom prst="roundRect">
            <a:avLst>
              <a:gd name="adj" fmla="val 9574"/>
            </a:avLst>
          </a:prstGeom>
          <a:solidFill>
            <a:srgbClr val="F7F9FC"/>
          </a:solidFill>
          <a:ln w="9525">
            <a:solidFill>
              <a:srgbClr val="C7D0DA"/>
            </a:solidFill>
            <a:prstDash val="solid"/>
          </a:ln>
        </p:spPr>
      </p:sp>
      <p:pic>
        <p:nvPicPr>
          <p:cNvPr id="217" name="图片 2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5900" y="2352675"/>
            <a:ext cx="381000" cy="381000"/>
          </a:xfrm>
          <a:prstGeom prst="rect">
            <a:avLst/>
          </a:prstGeom>
        </p:spPr>
      </p:pic>
      <p:sp>
        <p:nvSpPr>
          <p:cNvPr id="65" name="camera-prompt-title"/>
          <p:cNvSpPr>
            <a:spLocks noGrp="1"/>
          </p:cNvSpPr>
          <p:nvPr/>
        </p:nvSpPr>
        <p:spPr>
          <a:xfrm>
            <a:off x="1057275" y="27241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Camera </a:t>
            </a:r>
            <a:endParaRPr sz="1275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camera-prompt-body"/>
          <p:cNvSpPr>
            <a:spLocks noGrp="1"/>
          </p:cNvSpPr>
          <p:nvPr/>
        </p:nvSpPr>
        <p:spPr>
          <a:xfrm>
            <a:off x="1047750" y="293370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scene </a:t>
            </a:r>
            <a:endParaRPr sz="1200" b="0" i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7" name="vlm-context-mini-box"/>
          <p:cNvSpPr>
            <a:spLocks noGrp="1"/>
          </p:cNvSpPr>
          <p:nvPr/>
        </p:nvSpPr>
        <p:spPr>
          <a:xfrm>
            <a:off x="2667000" y="2276475"/>
            <a:ext cx="1352550" cy="895350"/>
          </a:xfrm>
          <a:prstGeom prst="roundRect">
            <a:avLst>
              <a:gd name="adj" fmla="val 9574"/>
            </a:avLst>
          </a:prstGeom>
          <a:solidFill>
            <a:srgbClr val="F7F9FC"/>
          </a:solidFill>
          <a:ln w="9525">
            <a:solidFill>
              <a:srgbClr val="C7D0DA"/>
            </a:solidFill>
            <a:prstDash val="solid"/>
          </a:ln>
        </p:spPr>
      </p:sp>
      <p:pic>
        <p:nvPicPr>
          <p:cNvPr id="221" name="图片 22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2775" y="2352675"/>
            <a:ext cx="381000" cy="381000"/>
          </a:xfrm>
          <a:prstGeom prst="rect">
            <a:avLst/>
          </a:prstGeom>
        </p:spPr>
      </p:pic>
      <p:sp>
        <p:nvSpPr>
          <p:cNvPr id="69" name="vlm-context-title"/>
          <p:cNvSpPr>
            <a:spLocks noGrp="1"/>
          </p:cNvSpPr>
          <p:nvPr/>
        </p:nvSpPr>
        <p:spPr>
          <a:xfrm>
            <a:off x="2724150" y="27241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VLM context</a:t>
            </a:r>
            <a:endParaRPr sz="1275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0" name="vlm-context-body"/>
          <p:cNvSpPr>
            <a:spLocks noGrp="1"/>
          </p:cNvSpPr>
          <p:nvPr/>
        </p:nvSpPr>
        <p:spPr>
          <a:xfrm>
            <a:off x="2714625" y="293370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task intent</a:t>
            </a:r>
            <a:endParaRPr sz="1200" b="0" i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" name="token-schedule-mini-box"/>
          <p:cNvSpPr>
            <a:spLocks noGrp="1"/>
          </p:cNvSpPr>
          <p:nvPr/>
        </p:nvSpPr>
        <p:spPr>
          <a:xfrm>
            <a:off x="4322445" y="2276475"/>
            <a:ext cx="1352550" cy="895350"/>
          </a:xfrm>
          <a:prstGeom prst="roundRect">
            <a:avLst>
              <a:gd name="adj" fmla="val 9574"/>
            </a:avLst>
          </a:prstGeom>
          <a:solidFill>
            <a:srgbClr val="E8F3FF"/>
          </a:solidFill>
          <a:ln w="9525">
            <a:solidFill>
              <a:srgbClr val="BFDFFF"/>
            </a:solidFill>
            <a:prstDash val="solid"/>
          </a:ln>
        </p:spPr>
      </p:sp>
      <p:pic>
        <p:nvPicPr>
          <p:cNvPr id="225" name="图片 22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8220" y="2352675"/>
            <a:ext cx="381000" cy="381000"/>
          </a:xfrm>
          <a:prstGeom prst="rect">
            <a:avLst/>
          </a:prstGeom>
        </p:spPr>
      </p:pic>
      <p:sp>
        <p:nvSpPr>
          <p:cNvPr id="73" name="token-schedule-title"/>
          <p:cNvSpPr>
            <a:spLocks noGrp="1"/>
          </p:cNvSpPr>
          <p:nvPr/>
        </p:nvSpPr>
        <p:spPr>
          <a:xfrm>
            <a:off x="4379595" y="27241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>
                <a:sym typeface="+mn-ea"/>
              </a:rPr>
              <a:t>Token scoring</a:t>
            </a:r>
            <a:endParaRPr sz="1275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token-schedule-body"/>
          <p:cNvSpPr>
            <a:spLocks noGrp="1"/>
          </p:cNvSpPr>
          <p:nvPr/>
        </p:nvSpPr>
        <p:spPr>
          <a:xfrm>
            <a:off x="4370070" y="293370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>
                <a:sym typeface="+mn-ea"/>
              </a:rPr>
              <a:t>demand report</a:t>
            </a:r>
            <a:endParaRPr sz="1200" b="0" i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5" name="tx-stage-arrow-1"/>
          <p:cNvSpPr>
            <a:spLocks noGrp="1"/>
          </p:cNvSpPr>
          <p:nvPr/>
        </p:nvSpPr>
        <p:spPr>
          <a:xfrm>
            <a:off x="2381250" y="2609850"/>
            <a:ext cx="286385" cy="189230"/>
          </a:xfrm>
          <a:prstGeom prst="rightArrow">
            <a:avLst/>
          </a:prstGeom>
          <a:solidFill>
            <a:srgbClr val="2F7BF6"/>
          </a:solidFill>
          <a:ln w="0">
            <a:solidFill>
              <a:srgbClr val="2F7BF6"/>
            </a:solidFill>
            <a:prstDash val="solid"/>
          </a:ln>
        </p:spPr>
      </p:sp>
      <p:sp>
        <p:nvSpPr>
          <p:cNvPr id="76" name="tx-stage-arrow-2"/>
          <p:cNvSpPr>
            <a:spLocks noGrp="1"/>
          </p:cNvSpPr>
          <p:nvPr/>
        </p:nvSpPr>
        <p:spPr>
          <a:xfrm>
            <a:off x="4019550" y="2600325"/>
            <a:ext cx="281305" cy="198755"/>
          </a:xfrm>
          <a:prstGeom prst="rightArrow">
            <a:avLst/>
          </a:prstGeom>
          <a:solidFill>
            <a:srgbClr val="2F7BF6"/>
          </a:solidFill>
          <a:ln w="0">
            <a:solidFill>
              <a:srgbClr val="2F7BF6"/>
            </a:solidFill>
            <a:prstDash val="solid"/>
          </a:ln>
        </p:spPr>
      </p:sp>
      <p:sp>
        <p:nvSpPr>
          <p:cNvPr id="77" name="cloud-support-box"/>
          <p:cNvSpPr>
            <a:spLocks noGrp="1"/>
          </p:cNvSpPr>
          <p:nvPr/>
        </p:nvSpPr>
        <p:spPr>
          <a:xfrm>
            <a:off x="6611620" y="1752600"/>
            <a:ext cx="36195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4288">
            <a:solidFill>
              <a:srgbClr val="BFDFFF"/>
            </a:solidFill>
            <a:prstDash val="solid"/>
          </a:ln>
        </p:spPr>
      </p:sp>
      <p:pic>
        <p:nvPicPr>
          <p:cNvPr id="231" name="图片 23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1170" y="1971675"/>
            <a:ext cx="628650" cy="628650"/>
          </a:xfrm>
          <a:prstGeom prst="rect">
            <a:avLst/>
          </a:prstGeom>
        </p:spPr>
      </p:pic>
      <p:sp>
        <p:nvSpPr>
          <p:cNvPr id="79" name="cloud-support-kicker"/>
          <p:cNvSpPr>
            <a:spLocks noGrp="1"/>
          </p:cNvSpPr>
          <p:nvPr/>
        </p:nvSpPr>
        <p:spPr>
          <a:xfrm>
            <a:off x="7678420" y="1885950"/>
            <a:ext cx="220980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CLOUD SUPPORT</a:t>
            </a:r>
            <a:endParaRPr sz="160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0" name="cloud-support-title"/>
          <p:cNvSpPr>
            <a:spLocks noGrp="1"/>
          </p:cNvSpPr>
          <p:nvPr/>
        </p:nvSpPr>
        <p:spPr>
          <a:xfrm>
            <a:off x="7678420" y="211455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 fontScale="79545"/>
          </a:bodyPr>
          <a:lstStyle/>
          <a:p>
            <a:pPr algn="l">
              <a:defRPr sz="16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Foundation model and semantic knowledge</a:t>
            </a:r>
            <a:endParaRPr sz="1650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1" name="cloud-support-body"/>
          <p:cNvSpPr>
            <a:spLocks noGrp="1"/>
          </p:cNvSpPr>
          <p:nvPr/>
        </p:nvSpPr>
        <p:spPr>
          <a:xfrm>
            <a:off x="7678420" y="2562225"/>
            <a:ext cx="2305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 VLM / LLM | updates</a:t>
            </a:r>
            <a:endParaRPr sz="1200" b="0" i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2" name="edge-hub-box"/>
          <p:cNvSpPr>
            <a:spLocks noGrp="1"/>
          </p:cNvSpPr>
          <p:nvPr/>
        </p:nvSpPr>
        <p:spPr>
          <a:xfrm>
            <a:off x="11239500" y="1838325"/>
            <a:ext cx="3257550" cy="19964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2F7BF6"/>
            </a:solidFill>
            <a:prstDash val="solid"/>
          </a:ln>
        </p:spPr>
      </p:sp>
      <p:sp>
        <p:nvSpPr>
          <p:cNvPr id="83" name="edge-hub-kicker"/>
          <p:cNvSpPr>
            <a:spLocks noGrp="1"/>
          </p:cNvSpPr>
          <p:nvPr/>
        </p:nvSpPr>
        <p:spPr>
          <a:xfrm>
            <a:off x="11468100" y="1990725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ROADSIDE EDGE</a:t>
            </a:r>
            <a:endParaRPr sz="160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37" name="图片 236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87150" y="2324100"/>
            <a:ext cx="590550" cy="590550"/>
          </a:xfrm>
          <a:prstGeom prst="rect">
            <a:avLst/>
          </a:prstGeom>
        </p:spPr>
      </p:pic>
      <p:sp>
        <p:nvSpPr>
          <p:cNvPr id="85" name="edge-hub-title"/>
          <p:cNvSpPr>
            <a:spLocks noGrp="1"/>
          </p:cNvSpPr>
          <p:nvPr/>
        </p:nvSpPr>
        <p:spPr>
          <a:xfrm>
            <a:off x="12249150" y="2305050"/>
            <a:ext cx="19812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Road </a:t>
            </a:r>
            <a:r>
              <a:rPr lang="en-US" altLang="zh-CN" sz="160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Side Unit</a:t>
            </a:r>
            <a:endParaRPr lang="en-US" altLang="zh-CN" sz="1600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6" name="edge-hub-rule"/>
          <p:cNvSpPr>
            <a:spLocks noGrp="1"/>
          </p:cNvSpPr>
          <p:nvPr/>
        </p:nvSpPr>
        <p:spPr>
          <a:xfrm>
            <a:off x="11468100" y="3028950"/>
            <a:ext cx="2762250" cy="19050"/>
          </a:xfrm>
          <a:prstGeom prst="rect">
            <a:avLst/>
          </a:prstGeom>
          <a:solidFill>
            <a:srgbClr val="BFDFFF"/>
          </a:solidFill>
          <a:ln w="0">
            <a:solidFill>
              <a:srgbClr val="BFDFFF"/>
            </a:solidFill>
            <a:prstDash val="solid"/>
          </a:ln>
        </p:spPr>
      </p:sp>
      <p:sp>
        <p:nvSpPr>
          <p:cNvPr id="87" name="edge-row-dot-0"/>
          <p:cNvSpPr>
            <a:spLocks noGrp="1"/>
          </p:cNvSpPr>
          <p:nvPr/>
        </p:nvSpPr>
        <p:spPr>
          <a:xfrm>
            <a:off x="11525250" y="3228975"/>
            <a:ext cx="85725" cy="85725"/>
          </a:xfrm>
          <a:prstGeom prst="ellipse">
            <a:avLst/>
          </a:prstGeom>
          <a:solidFill>
            <a:srgbClr val="2F7BF6"/>
          </a:solidFill>
          <a:ln w="0">
            <a:solidFill>
              <a:srgbClr val="2F7BF6"/>
            </a:solidFill>
            <a:prstDash val="solid"/>
          </a:ln>
        </p:spPr>
      </p:sp>
      <p:sp>
        <p:nvSpPr>
          <p:cNvPr id="88" name="edge-row-0"/>
          <p:cNvSpPr>
            <a:spLocks noGrp="1"/>
          </p:cNvSpPr>
          <p:nvPr/>
        </p:nvSpPr>
        <p:spPr>
          <a:xfrm>
            <a:off x="11696700" y="3171825"/>
            <a:ext cx="25527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Coordinate K vehicle uplinks</a:t>
            </a:r>
            <a:endParaRPr sz="1350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9" name="edge-row-dot-1"/>
          <p:cNvSpPr>
            <a:spLocks noGrp="1"/>
          </p:cNvSpPr>
          <p:nvPr/>
        </p:nvSpPr>
        <p:spPr>
          <a:xfrm>
            <a:off x="11525250" y="3533775"/>
            <a:ext cx="85725" cy="85725"/>
          </a:xfrm>
          <a:prstGeom prst="ellipse">
            <a:avLst/>
          </a:prstGeom>
          <a:solidFill>
            <a:srgbClr val="2F7BF6"/>
          </a:solidFill>
          <a:ln w="0">
            <a:solidFill>
              <a:srgbClr val="2F7BF6"/>
            </a:solidFill>
            <a:prstDash val="solid"/>
          </a:ln>
        </p:spPr>
      </p:sp>
      <p:sp>
        <p:nvSpPr>
          <p:cNvPr id="90" name="edge-row-1"/>
          <p:cNvSpPr>
            <a:spLocks noGrp="1"/>
          </p:cNvSpPr>
          <p:nvPr/>
        </p:nvSpPr>
        <p:spPr>
          <a:xfrm>
            <a:off x="11696700" y="3476625"/>
            <a:ext cx="25527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14203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Shared generative receiver</a:t>
            </a:r>
            <a:endParaRPr sz="1350" b="1" i="0">
              <a:solidFill>
                <a:srgbClr val="142033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" name="rsu-pole"/>
          <p:cNvSpPr>
            <a:spLocks noGrp="1"/>
          </p:cNvSpPr>
          <p:nvPr/>
        </p:nvSpPr>
        <p:spPr>
          <a:xfrm>
            <a:off x="10572750" y="3467100"/>
            <a:ext cx="95250" cy="952500"/>
          </a:xfrm>
          <a:prstGeom prst="rect">
            <a:avLst/>
          </a:prstGeom>
          <a:solidFill>
            <a:srgbClr val="2E353E"/>
          </a:solidFill>
          <a:ln w="0">
            <a:solidFill>
              <a:srgbClr val="2E353E"/>
            </a:solidFill>
            <a:prstDash val="solid"/>
          </a:ln>
        </p:spPr>
      </p:sp>
      <p:sp>
        <p:nvSpPr>
          <p:cNvPr id="94" name="rsu-base"/>
          <p:cNvSpPr>
            <a:spLocks noGrp="1"/>
          </p:cNvSpPr>
          <p:nvPr/>
        </p:nvSpPr>
        <p:spPr>
          <a:xfrm>
            <a:off x="10420350" y="4257675"/>
            <a:ext cx="400050" cy="190500"/>
          </a:xfrm>
          <a:prstGeom prst="trapezoid">
            <a:avLst/>
          </a:prstGeom>
          <a:solidFill>
            <a:srgbClr val="2E353E"/>
          </a:solidFill>
          <a:ln w="0">
            <a:solidFill>
              <a:srgbClr val="2E353E"/>
            </a:solidFill>
            <a:prstDash val="solid"/>
          </a:ln>
        </p:spPr>
      </p:sp>
      <p:pic>
        <p:nvPicPr>
          <p:cNvPr id="248" name="图片 24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58425" y="3000375"/>
            <a:ext cx="742950" cy="742950"/>
          </a:xfrm>
          <a:prstGeom prst="rect">
            <a:avLst/>
          </a:prstGeom>
        </p:spPr>
      </p:pic>
      <p:sp>
        <p:nvSpPr>
          <p:cNvPr id="96" name="rsu-physical-label"/>
          <p:cNvSpPr>
            <a:spLocks noGrp="1"/>
          </p:cNvSpPr>
          <p:nvPr/>
        </p:nvSpPr>
        <p:spPr>
          <a:xfrm>
            <a:off x="10334625" y="3743325"/>
            <a:ext cx="57150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RSU</a:t>
            </a:r>
            <a:endParaRPr sz="135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7" name="rsu-edge-wire"/>
          <p:cNvSpPr>
            <a:spLocks noGrp="1"/>
          </p:cNvSpPr>
          <p:nvPr/>
        </p:nvSpPr>
        <p:spPr>
          <a:xfrm>
            <a:off x="10668000" y="3524250"/>
            <a:ext cx="571500" cy="28575"/>
          </a:xfrm>
          <a:prstGeom prst="rect">
            <a:avLst/>
          </a:prstGeom>
          <a:solidFill>
            <a:srgbClr val="2F7BF6"/>
          </a:solidFill>
          <a:ln w="0">
            <a:solidFill>
              <a:srgbClr val="2F7BF6"/>
            </a:solidFill>
            <a:prstDash val="solid"/>
          </a:ln>
        </p:spPr>
      </p:sp>
      <p:sp>
        <p:nvSpPr>
          <p:cNvPr id="99" name="selected-token-label"/>
          <p:cNvSpPr>
            <a:spLocks noGrp="1"/>
          </p:cNvSpPr>
          <p:nvPr/>
        </p:nvSpPr>
        <p:spPr>
          <a:xfrm>
            <a:off x="7477125" y="5181600"/>
            <a:ext cx="2857500" cy="285750"/>
          </a:xfrm>
          <a:prstGeom prst="roundRect">
            <a:avLst>
              <a:gd name="adj" fmla="val 40000"/>
            </a:avLst>
          </a:prstGeom>
          <a:solidFill>
            <a:srgbClr val="E8F3FF"/>
          </a:solidFill>
          <a:ln w="9525">
            <a:solidFill>
              <a:srgbClr val="BFDFFF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selected task-relevant semantic tokens</a:t>
            </a:r>
            <a:endParaRPr sz="120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0" name="feedback-label"/>
          <p:cNvSpPr>
            <a:spLocks noGrp="1"/>
          </p:cNvSpPr>
          <p:nvPr/>
        </p:nvSpPr>
        <p:spPr>
          <a:xfrm>
            <a:off x="5934075" y="4419600"/>
            <a:ext cx="2362200" cy="238125"/>
          </a:xfrm>
          <a:prstGeom prst="rect">
            <a:avLst/>
          </a:prstGeom>
          <a:solidFill>
            <a:srgbClr val="F4F8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CSI and resource feedback</a:t>
            </a:r>
            <a:endParaRPr sz="1200" b="0" i="0">
              <a:solidFill>
                <a:srgbClr val="5F6C7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1" name="vehicle-1-body"/>
          <p:cNvSpPr>
            <a:spLocks noGrp="1"/>
          </p:cNvSpPr>
          <p:nvPr/>
        </p:nvSpPr>
        <p:spPr>
          <a:xfrm>
            <a:off x="1409700" y="4914900"/>
            <a:ext cx="1333500" cy="457200"/>
          </a:xfrm>
          <a:prstGeom prst="roundRect">
            <a:avLst>
              <a:gd name="adj" fmla="val 25000"/>
            </a:avLst>
          </a:prstGeom>
          <a:solidFill>
            <a:srgbClr val="8C97A5"/>
          </a:solidFill>
          <a:ln w="11430">
            <a:solidFill>
              <a:srgbClr val="2E353E"/>
            </a:solidFill>
            <a:prstDash val="solid"/>
          </a:ln>
        </p:spPr>
      </p:sp>
      <p:sp>
        <p:nvSpPr>
          <p:cNvPr id="102" name="vehicle-1-cabin"/>
          <p:cNvSpPr>
            <a:spLocks noGrp="1"/>
          </p:cNvSpPr>
          <p:nvPr/>
        </p:nvSpPr>
        <p:spPr>
          <a:xfrm>
            <a:off x="1771650" y="4686300"/>
            <a:ext cx="638175" cy="381000"/>
          </a:xfrm>
          <a:prstGeom prst="roundRect">
            <a:avLst>
              <a:gd name="adj" fmla="val 25000"/>
            </a:avLst>
          </a:prstGeom>
          <a:solidFill>
            <a:srgbClr val="8C97A5"/>
          </a:solidFill>
          <a:ln w="11430">
            <a:solidFill>
              <a:srgbClr val="2E353E"/>
            </a:solidFill>
            <a:prstDash val="solid"/>
          </a:ln>
        </p:spPr>
      </p:sp>
      <p:sp>
        <p:nvSpPr>
          <p:cNvPr id="103" name="vehicle-1-window-front"/>
          <p:cNvSpPr>
            <a:spLocks noGrp="1"/>
          </p:cNvSpPr>
          <p:nvPr/>
        </p:nvSpPr>
        <p:spPr>
          <a:xfrm>
            <a:off x="2095500" y="4743450"/>
            <a:ext cx="23812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vehicle-1-window-rear"/>
          <p:cNvSpPr>
            <a:spLocks noGrp="1"/>
          </p:cNvSpPr>
          <p:nvPr/>
        </p:nvSpPr>
        <p:spPr>
          <a:xfrm>
            <a:off x="1838325" y="4743450"/>
            <a:ext cx="21907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vehicle-1-wheel-172"/>
          <p:cNvSpPr>
            <a:spLocks noGrp="1"/>
          </p:cNvSpPr>
          <p:nvPr/>
        </p:nvSpPr>
        <p:spPr>
          <a:xfrm>
            <a:off x="1638300" y="5257800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vehicle-1-hub-172"/>
          <p:cNvSpPr>
            <a:spLocks noGrp="1"/>
          </p:cNvSpPr>
          <p:nvPr/>
        </p:nvSpPr>
        <p:spPr>
          <a:xfrm>
            <a:off x="1704975" y="5324475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07" name="vehicle-1-wheel-250"/>
          <p:cNvSpPr>
            <a:spLocks noGrp="1"/>
          </p:cNvSpPr>
          <p:nvPr/>
        </p:nvSpPr>
        <p:spPr>
          <a:xfrm>
            <a:off x="2381250" y="5257800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vehicle-1-hub-250"/>
          <p:cNvSpPr>
            <a:spLocks noGrp="1"/>
          </p:cNvSpPr>
          <p:nvPr/>
        </p:nvSpPr>
        <p:spPr>
          <a:xfrm>
            <a:off x="2447925" y="5324475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09" name="vehicle-1-headlight"/>
          <p:cNvSpPr>
            <a:spLocks noGrp="1"/>
          </p:cNvSpPr>
          <p:nvPr/>
        </p:nvSpPr>
        <p:spPr>
          <a:xfrm>
            <a:off x="2667000" y="5048250"/>
            <a:ext cx="95250" cy="133350"/>
          </a:xfrm>
          <a:prstGeom prst="roundRect">
            <a:avLst>
              <a:gd name="adj" fmla="val 40000"/>
            </a:avLst>
          </a:prstGeom>
          <a:solidFill>
            <a:srgbClr val="FFF3D8"/>
          </a:solidFill>
          <a:ln w="9525">
            <a:solidFill>
              <a:srgbClr val="F3A41C"/>
            </a:solidFill>
            <a:prstDash val="solid"/>
          </a:ln>
        </p:spPr>
      </p:sp>
      <p:sp>
        <p:nvSpPr>
          <p:cNvPr id="110" name="vehicle-1-label"/>
          <p:cNvSpPr>
            <a:spLocks noGrp="1"/>
          </p:cNvSpPr>
          <p:nvPr/>
        </p:nvSpPr>
        <p:spPr>
          <a:xfrm>
            <a:off x="1600200" y="5514975"/>
            <a:ext cx="952500" cy="247650"/>
          </a:xfrm>
          <a:prstGeom prst="roundRect">
            <a:avLst>
              <a:gd name="adj" fmla="val 38462"/>
            </a:avLst>
          </a:prstGeom>
          <a:solidFill>
            <a:srgbClr val="444C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Veh. 1</a:t>
            </a:r>
            <a:endParaRPr sz="1500" b="0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1" name="vehicle-k-halo"/>
          <p:cNvSpPr>
            <a:spLocks noGrp="1"/>
          </p:cNvSpPr>
          <p:nvPr/>
        </p:nvSpPr>
        <p:spPr>
          <a:xfrm>
            <a:off x="3543300" y="6391275"/>
            <a:ext cx="1676400" cy="428625"/>
          </a:xfrm>
          <a:prstGeom prst="ellipse">
            <a:avLst/>
          </a:prstGeom>
          <a:solidFill>
            <a:srgbClr val="E8F3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112" name="vehicle-k-body"/>
          <p:cNvSpPr>
            <a:spLocks noGrp="1"/>
          </p:cNvSpPr>
          <p:nvPr/>
        </p:nvSpPr>
        <p:spPr>
          <a:xfrm>
            <a:off x="3714750" y="6219825"/>
            <a:ext cx="1333500" cy="457200"/>
          </a:xfrm>
          <a:prstGeom prst="roundRect">
            <a:avLst>
              <a:gd name="adj" fmla="val 25000"/>
            </a:avLst>
          </a:prstGeom>
          <a:solidFill>
            <a:srgbClr val="2F7BF6"/>
          </a:solidFill>
          <a:ln w="19050">
            <a:solidFill>
              <a:srgbClr val="1459C7"/>
            </a:solidFill>
            <a:prstDash val="solid"/>
          </a:ln>
        </p:spPr>
      </p:sp>
      <p:sp>
        <p:nvSpPr>
          <p:cNvPr id="113" name="vehicle-k-cabin"/>
          <p:cNvSpPr>
            <a:spLocks noGrp="1"/>
          </p:cNvSpPr>
          <p:nvPr/>
        </p:nvSpPr>
        <p:spPr>
          <a:xfrm>
            <a:off x="4076700" y="5991225"/>
            <a:ext cx="638175" cy="381000"/>
          </a:xfrm>
          <a:prstGeom prst="roundRect">
            <a:avLst>
              <a:gd name="adj" fmla="val 25000"/>
            </a:avLst>
          </a:prstGeom>
          <a:solidFill>
            <a:srgbClr val="2F7BF6"/>
          </a:solidFill>
          <a:ln w="19050">
            <a:solidFill>
              <a:srgbClr val="1459C7"/>
            </a:solidFill>
            <a:prstDash val="solid"/>
          </a:ln>
        </p:spPr>
      </p:sp>
      <p:sp>
        <p:nvSpPr>
          <p:cNvPr id="114" name="vehicle-k-window-front"/>
          <p:cNvSpPr>
            <a:spLocks noGrp="1"/>
          </p:cNvSpPr>
          <p:nvPr/>
        </p:nvSpPr>
        <p:spPr>
          <a:xfrm>
            <a:off x="4400550" y="6048375"/>
            <a:ext cx="23812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vehicle-k-window-rear"/>
          <p:cNvSpPr>
            <a:spLocks noGrp="1"/>
          </p:cNvSpPr>
          <p:nvPr/>
        </p:nvSpPr>
        <p:spPr>
          <a:xfrm>
            <a:off x="4143375" y="6048375"/>
            <a:ext cx="21907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6" name="vehicle-k-wheel-414"/>
          <p:cNvSpPr>
            <a:spLocks noGrp="1"/>
          </p:cNvSpPr>
          <p:nvPr/>
        </p:nvSpPr>
        <p:spPr>
          <a:xfrm>
            <a:off x="3943350" y="6562725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vehicle-k-hub-414"/>
          <p:cNvSpPr>
            <a:spLocks noGrp="1"/>
          </p:cNvSpPr>
          <p:nvPr/>
        </p:nvSpPr>
        <p:spPr>
          <a:xfrm>
            <a:off x="4010025" y="6629400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18" name="vehicle-k-wheel-492"/>
          <p:cNvSpPr>
            <a:spLocks noGrp="1"/>
          </p:cNvSpPr>
          <p:nvPr/>
        </p:nvSpPr>
        <p:spPr>
          <a:xfrm>
            <a:off x="4686300" y="6562725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vehicle-k-hub-492"/>
          <p:cNvSpPr>
            <a:spLocks noGrp="1"/>
          </p:cNvSpPr>
          <p:nvPr/>
        </p:nvSpPr>
        <p:spPr>
          <a:xfrm>
            <a:off x="4752975" y="6629400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20" name="vehicle-k-headlight"/>
          <p:cNvSpPr>
            <a:spLocks noGrp="1"/>
          </p:cNvSpPr>
          <p:nvPr/>
        </p:nvSpPr>
        <p:spPr>
          <a:xfrm>
            <a:off x="4972050" y="6353175"/>
            <a:ext cx="95250" cy="133350"/>
          </a:xfrm>
          <a:prstGeom prst="roundRect">
            <a:avLst>
              <a:gd name="adj" fmla="val 40000"/>
            </a:avLst>
          </a:prstGeom>
          <a:solidFill>
            <a:srgbClr val="FFF3D8"/>
          </a:solidFill>
          <a:ln w="9525">
            <a:solidFill>
              <a:srgbClr val="F3A41C"/>
            </a:solidFill>
            <a:prstDash val="solid"/>
          </a:ln>
        </p:spPr>
      </p:sp>
      <p:sp>
        <p:nvSpPr>
          <p:cNvPr id="121" name="vehicle-k-label"/>
          <p:cNvSpPr>
            <a:spLocks noGrp="1"/>
          </p:cNvSpPr>
          <p:nvPr/>
        </p:nvSpPr>
        <p:spPr>
          <a:xfrm>
            <a:off x="3905250" y="6819900"/>
            <a:ext cx="952500" cy="247650"/>
          </a:xfrm>
          <a:prstGeom prst="roundRect">
            <a:avLst>
              <a:gd name="adj" fmla="val 38462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Veh. </a:t>
            </a:r>
            <a:r>
              <a:rPr lang="en-US" sz="1500" b="1" i="0">
                <a:solidFill>
                  <a:srgbClr val="1459C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lang="en-US" sz="1500" b="1" i="0">
              <a:solidFill>
                <a:srgbClr val="1459C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vehicle-K-body"/>
          <p:cNvSpPr>
            <a:spLocks noGrp="1"/>
          </p:cNvSpPr>
          <p:nvPr/>
        </p:nvSpPr>
        <p:spPr>
          <a:xfrm>
            <a:off x="4743450" y="4972050"/>
            <a:ext cx="1333500" cy="457200"/>
          </a:xfrm>
          <a:prstGeom prst="roundRect">
            <a:avLst>
              <a:gd name="adj" fmla="val 25000"/>
            </a:avLst>
          </a:prstGeom>
          <a:solidFill>
            <a:srgbClr val="2E9D8F"/>
          </a:solidFill>
          <a:ln w="11430">
            <a:solidFill>
              <a:srgbClr val="2E353E"/>
            </a:solidFill>
            <a:prstDash val="solid"/>
          </a:ln>
        </p:spPr>
      </p:sp>
      <p:sp>
        <p:nvSpPr>
          <p:cNvPr id="123" name="vehicle-K-cabin"/>
          <p:cNvSpPr>
            <a:spLocks noGrp="1"/>
          </p:cNvSpPr>
          <p:nvPr/>
        </p:nvSpPr>
        <p:spPr>
          <a:xfrm>
            <a:off x="5105400" y="4743450"/>
            <a:ext cx="638175" cy="381000"/>
          </a:xfrm>
          <a:prstGeom prst="roundRect">
            <a:avLst>
              <a:gd name="adj" fmla="val 25000"/>
            </a:avLst>
          </a:prstGeom>
          <a:solidFill>
            <a:srgbClr val="2E9D8F"/>
          </a:solidFill>
          <a:ln w="11430">
            <a:solidFill>
              <a:srgbClr val="2E353E"/>
            </a:solidFill>
            <a:prstDash val="solid"/>
          </a:ln>
        </p:spPr>
      </p:sp>
      <p:sp>
        <p:nvSpPr>
          <p:cNvPr id="124" name="vehicle-K-window-front"/>
          <p:cNvSpPr>
            <a:spLocks noGrp="1"/>
          </p:cNvSpPr>
          <p:nvPr/>
        </p:nvSpPr>
        <p:spPr>
          <a:xfrm>
            <a:off x="5429250" y="4800600"/>
            <a:ext cx="23812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5" name="vehicle-K-window-rear"/>
          <p:cNvSpPr>
            <a:spLocks noGrp="1"/>
          </p:cNvSpPr>
          <p:nvPr/>
        </p:nvSpPr>
        <p:spPr>
          <a:xfrm>
            <a:off x="5172075" y="4800600"/>
            <a:ext cx="219075" cy="219075"/>
          </a:xfrm>
          <a:prstGeom prst="rect">
            <a:avLst/>
          </a:prstGeom>
          <a:solidFill>
            <a:srgbClr val="E8F3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6" name="vehicle-K-wheel-714"/>
          <p:cNvSpPr>
            <a:spLocks noGrp="1"/>
          </p:cNvSpPr>
          <p:nvPr/>
        </p:nvSpPr>
        <p:spPr>
          <a:xfrm>
            <a:off x="4972050" y="5314950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7" name="vehicle-K-hub-714"/>
          <p:cNvSpPr>
            <a:spLocks noGrp="1"/>
          </p:cNvSpPr>
          <p:nvPr/>
        </p:nvSpPr>
        <p:spPr>
          <a:xfrm>
            <a:off x="5038725" y="5381625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28" name="vehicle-K-wheel-792"/>
          <p:cNvSpPr>
            <a:spLocks noGrp="1"/>
          </p:cNvSpPr>
          <p:nvPr/>
        </p:nvSpPr>
        <p:spPr>
          <a:xfrm>
            <a:off x="5715000" y="5314950"/>
            <a:ext cx="238125" cy="238125"/>
          </a:xfrm>
          <a:prstGeom prst="ellipse">
            <a:avLst/>
          </a:prstGeom>
          <a:solidFill>
            <a:srgbClr val="1F252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9" name="vehicle-K-hub-792"/>
          <p:cNvSpPr>
            <a:spLocks noGrp="1"/>
          </p:cNvSpPr>
          <p:nvPr/>
        </p:nvSpPr>
        <p:spPr>
          <a:xfrm>
            <a:off x="5781675" y="5381625"/>
            <a:ext cx="104775" cy="104775"/>
          </a:xfrm>
          <a:prstGeom prst="ellipse">
            <a:avLst/>
          </a:prstGeom>
          <a:solidFill>
            <a:srgbClr val="C7D0DA"/>
          </a:solidFill>
          <a:ln w="0">
            <a:solidFill>
              <a:srgbClr val="C7D0DA"/>
            </a:solidFill>
            <a:prstDash val="solid"/>
          </a:ln>
        </p:spPr>
      </p:sp>
      <p:sp>
        <p:nvSpPr>
          <p:cNvPr id="130" name="vehicle-K-headlight"/>
          <p:cNvSpPr>
            <a:spLocks noGrp="1"/>
          </p:cNvSpPr>
          <p:nvPr/>
        </p:nvSpPr>
        <p:spPr>
          <a:xfrm>
            <a:off x="7829550" y="5133975"/>
            <a:ext cx="95250" cy="133350"/>
          </a:xfrm>
          <a:prstGeom prst="roundRect">
            <a:avLst>
              <a:gd name="adj" fmla="val 40000"/>
            </a:avLst>
          </a:prstGeom>
          <a:solidFill>
            <a:srgbClr val="FFF3D8"/>
          </a:solidFill>
          <a:ln w="9525">
            <a:solidFill>
              <a:srgbClr val="F3A41C"/>
            </a:solidFill>
            <a:prstDash val="solid"/>
          </a:ln>
        </p:spPr>
      </p:sp>
      <p:sp>
        <p:nvSpPr>
          <p:cNvPr id="131" name="vehicle-K-label"/>
          <p:cNvSpPr>
            <a:spLocks noGrp="1"/>
          </p:cNvSpPr>
          <p:nvPr/>
        </p:nvSpPr>
        <p:spPr>
          <a:xfrm>
            <a:off x="4933950" y="5572125"/>
            <a:ext cx="952500" cy="247650"/>
          </a:xfrm>
          <a:prstGeom prst="roundRect">
            <a:avLst>
              <a:gd name="adj" fmla="val 38462"/>
            </a:avLst>
          </a:prstGeom>
          <a:solidFill>
            <a:srgbClr val="444C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0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Veh. </a:t>
            </a:r>
            <a:r>
              <a:rPr lang="en-US" sz="1500" b="0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lang="en-US" sz="1500" b="0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5" name="camera-view-label"/>
          <p:cNvSpPr>
            <a:spLocks noGrp="1"/>
          </p:cNvSpPr>
          <p:nvPr/>
        </p:nvSpPr>
        <p:spPr>
          <a:xfrm>
            <a:off x="5963920" y="6220460"/>
            <a:ext cx="1960880" cy="4089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444C57"/>
                </a:solidFill>
              </a14:hiddenFill>
            </a:ext>
          </a:extLst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 i="0">
                <a:solidFill>
                  <a:srgbClr val="32B9D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400" b="0" i="0">
                <a:solidFill>
                  <a:srgbClr val="32B9D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Camera field of view</a:t>
            </a:r>
            <a:endParaRPr lang="en-US" altLang="zh-CN" sz="1400" b="0" i="0">
              <a:solidFill>
                <a:srgbClr val="32B9D8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" name="hazard-crate-large"/>
          <p:cNvSpPr>
            <a:spLocks noGrp="1"/>
          </p:cNvSpPr>
          <p:nvPr/>
        </p:nvSpPr>
        <p:spPr>
          <a:xfrm>
            <a:off x="8401050" y="6172200"/>
            <a:ext cx="628650" cy="523875"/>
          </a:xfrm>
          <a:prstGeom prst="rect">
            <a:avLst/>
          </a:prstGeom>
          <a:solidFill>
            <a:srgbClr val="F3A41C"/>
          </a:solidFill>
          <a:ln w="19050">
            <a:solidFill>
              <a:srgbClr val="B86A00"/>
            </a:solidFill>
            <a:prstDash val="solid"/>
          </a:ln>
        </p:spPr>
      </p:sp>
      <p:sp>
        <p:nvSpPr>
          <p:cNvPr id="138" name="crate-cross-1"/>
          <p:cNvSpPr>
            <a:spLocks noGrp="1"/>
          </p:cNvSpPr>
          <p:nvPr/>
        </p:nvSpPr>
        <p:spPr>
          <a:xfrm>
            <a:off x="8505825" y="6419850"/>
            <a:ext cx="419100" cy="28575"/>
          </a:xfrm>
          <a:prstGeom prst="rect">
            <a:avLst/>
          </a:prstGeom>
          <a:solidFill>
            <a:srgbClr val="B86A00"/>
          </a:solidFill>
          <a:ln w="0">
            <a:solidFill>
              <a:srgbClr val="B86A00"/>
            </a:solidFill>
            <a:prstDash val="solid"/>
          </a:ln>
        </p:spPr>
      </p:sp>
      <p:sp>
        <p:nvSpPr>
          <p:cNvPr id="139" name="crate-cross-2"/>
          <p:cNvSpPr>
            <a:spLocks noGrp="1"/>
          </p:cNvSpPr>
          <p:nvPr/>
        </p:nvSpPr>
        <p:spPr>
          <a:xfrm>
            <a:off x="8696325" y="6238875"/>
            <a:ext cx="28575" cy="409575"/>
          </a:xfrm>
          <a:prstGeom prst="rect">
            <a:avLst/>
          </a:prstGeom>
          <a:solidFill>
            <a:srgbClr val="B86A00"/>
          </a:solidFill>
          <a:ln w="0">
            <a:solidFill>
              <a:srgbClr val="B86A00"/>
            </a:solidFill>
            <a:prstDash val="solid"/>
          </a:ln>
        </p:spPr>
      </p:sp>
      <p:sp>
        <p:nvSpPr>
          <p:cNvPr id="141" name="hazard-label"/>
          <p:cNvSpPr>
            <a:spLocks noGrp="1"/>
          </p:cNvSpPr>
          <p:nvPr/>
        </p:nvSpPr>
        <p:spPr>
          <a:xfrm>
            <a:off x="8181975" y="6810375"/>
            <a:ext cx="1524000" cy="228600"/>
          </a:xfrm>
          <a:prstGeom prst="rect">
            <a:avLst/>
          </a:prstGeom>
          <a:solidFill>
            <a:srgbClr val="444C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3A41C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1" i="0">
                <a:solidFill>
                  <a:srgbClr val="F3A41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FALLEN CARGO</a:t>
            </a:r>
            <a:endParaRPr sz="1275" b="1" i="0">
              <a:solidFill>
                <a:srgbClr val="F3A41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" name="task-result-box"/>
          <p:cNvSpPr>
            <a:spLocks noGrp="1"/>
          </p:cNvSpPr>
          <p:nvPr/>
        </p:nvSpPr>
        <p:spPr>
          <a:xfrm>
            <a:off x="11239500" y="4857750"/>
            <a:ext cx="3343275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9050">
            <a:solidFill>
              <a:srgbClr val="F3A41C"/>
            </a:solidFill>
            <a:prstDash val="solid"/>
          </a:ln>
        </p:spPr>
      </p:sp>
      <p:sp>
        <p:nvSpPr>
          <p:cNvPr id="143" name="task-result-kicker"/>
          <p:cNvSpPr>
            <a:spLocks noGrp="1"/>
          </p:cNvSpPr>
          <p:nvPr/>
        </p:nvSpPr>
        <p:spPr>
          <a:xfrm>
            <a:off x="11468100" y="5010150"/>
            <a:ext cx="2800350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70000"/>
              </a:lnSpc>
              <a:defRPr sz="1200" b="1" i="0">
                <a:solidFill>
                  <a:srgbClr val="B86A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altLang="zh-CN" sz="1600" b="1" i="0">
                <a:solidFill>
                  <a:srgbClr val="B86A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Semantic task output</a:t>
            </a:r>
            <a:endParaRPr lang="en-US" altLang="zh-CN" sz="1600" b="1" i="0">
              <a:solidFill>
                <a:srgbClr val="B86A0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4" name="task-result-title"/>
          <p:cNvSpPr>
            <a:spLocks noGrp="1"/>
          </p:cNvSpPr>
          <p:nvPr/>
        </p:nvSpPr>
        <p:spPr>
          <a:xfrm>
            <a:off x="11468100" y="5267325"/>
            <a:ext cx="2886075" cy="8464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92000"/>
              </a:lnSpc>
              <a:buNone/>
              <a:defRPr sz="900">
                <a:solidFill>
                  <a:srgbClr val="223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rgbClr val="223044"/>
                </a:solidFill>
                <a:sym typeface="+mn-ea"/>
              </a:rPr>
              <a:t>Q: “Is the lane ahead</a:t>
            </a:r>
            <a:r>
              <a:rPr lang="en-US" sz="1400" b="1">
                <a:solidFill>
                  <a:srgbClr val="223044"/>
                </a:solidFill>
                <a:sym typeface="+mn-ea"/>
              </a:rPr>
              <a:t> </a:t>
            </a:r>
            <a:r>
              <a:rPr sz="1400" b="1">
                <a:solidFill>
                  <a:srgbClr val="223044"/>
                </a:solidFill>
                <a:sym typeface="+mn-ea"/>
              </a:rPr>
              <a:t>blocked?”</a:t>
            </a:r>
            <a:endParaRPr sz="1400" b="1">
              <a:solidFill>
                <a:srgbClr val="223044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92000"/>
              </a:lnSpc>
              <a:buNone/>
              <a:defRPr sz="900">
                <a:solidFill>
                  <a:srgbClr val="223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rgbClr val="223044"/>
                </a:solidFill>
                <a:sym typeface="+mn-ea"/>
              </a:rPr>
              <a:t>A: “Yes. Fallen cargo</a:t>
            </a:r>
            <a:r>
              <a:rPr lang="en-US" sz="1400" b="1">
                <a:solidFill>
                  <a:srgbClr val="223044"/>
                </a:solidFill>
                <a:sym typeface="+mn-ea"/>
              </a:rPr>
              <a:t> </a:t>
            </a:r>
            <a:r>
              <a:rPr sz="1400" b="1">
                <a:solidFill>
                  <a:srgbClr val="223044"/>
                </a:solidFill>
                <a:sym typeface="+mn-ea"/>
              </a:rPr>
              <a:t>blocks the </a:t>
            </a:r>
            <a:endParaRPr sz="1400" b="1">
              <a:solidFill>
                <a:srgbClr val="223044"/>
              </a:solidFill>
              <a:sym typeface="+mn-ea"/>
            </a:endParaRPr>
          </a:p>
          <a:p>
            <a:pPr algn="l">
              <a:lnSpc>
                <a:spcPct val="92000"/>
              </a:lnSpc>
              <a:buNone/>
              <a:defRPr sz="900">
                <a:solidFill>
                  <a:srgbClr val="223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1">
                <a:solidFill>
                  <a:srgbClr val="223044"/>
                </a:solidFill>
                <a:sym typeface="+mn-ea"/>
              </a:rPr>
              <a:t> </a:t>
            </a:r>
            <a:r>
              <a:rPr lang="en-US" sz="1400" b="1">
                <a:solidFill>
                  <a:srgbClr val="223044"/>
                </a:solidFill>
                <a:sym typeface="+mn-ea"/>
              </a:rPr>
              <a:t>    </a:t>
            </a:r>
            <a:r>
              <a:rPr sz="1400" b="1">
                <a:solidFill>
                  <a:srgbClr val="223044"/>
                </a:solidFill>
                <a:sym typeface="+mn-ea"/>
              </a:rPr>
              <a:t>right lane.”</a:t>
            </a:r>
            <a:endParaRPr sz="1400" b="1" i="0">
              <a:solidFill>
                <a:srgbClr val="223044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146" name="task-result-rule"/>
          <p:cNvSpPr>
            <a:spLocks noGrp="1"/>
          </p:cNvSpPr>
          <p:nvPr/>
        </p:nvSpPr>
        <p:spPr>
          <a:xfrm>
            <a:off x="11449050" y="6172200"/>
            <a:ext cx="2800350" cy="19050"/>
          </a:xfrm>
          <a:prstGeom prst="rect">
            <a:avLst/>
          </a:prstGeom>
          <a:solidFill>
            <a:srgbClr val="F0D7A3"/>
          </a:solidFill>
          <a:ln w="0">
            <a:solidFill>
              <a:srgbClr val="F0D7A3"/>
            </a:solidFill>
            <a:prstDash val="solid"/>
          </a:ln>
        </p:spPr>
      </p:sp>
      <p:sp>
        <p:nvSpPr>
          <p:cNvPr id="47" name="edge-row-dot-2"/>
          <p:cNvSpPr>
            <a:spLocks noGrp="1"/>
          </p:cNvSpPr>
          <p:nvPr/>
        </p:nvSpPr>
        <p:spPr>
          <a:xfrm>
            <a:off x="11409045" y="6334125"/>
            <a:ext cx="85725" cy="85725"/>
          </a:xfrm>
          <a:prstGeom prst="ellipse">
            <a:avLst/>
          </a:prstGeom>
          <a:solidFill>
            <a:srgbClr val="F3A41C"/>
          </a:solidFill>
          <a:ln w="0">
            <a:solidFill>
              <a:srgbClr val="F3A41C"/>
            </a:solidFill>
            <a:prstDash val="solid"/>
          </a:ln>
        </p:spPr>
      </p:sp>
      <p:sp>
        <p:nvSpPr>
          <p:cNvPr id="48" name="edge-row-2"/>
          <p:cNvSpPr>
            <a:spLocks noGrp="1"/>
          </p:cNvSpPr>
          <p:nvPr/>
        </p:nvSpPr>
        <p:spPr>
          <a:xfrm>
            <a:off x="11580495" y="6276975"/>
            <a:ext cx="25527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lnSpc>
                <a:spcPct val="95000"/>
              </a:lnSpc>
              <a:buNone/>
              <a:defRPr sz="900" b="1" i="0">
                <a:solidFill>
                  <a:srgbClr val="22304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>
                <a:solidFill>
                  <a:srgbClr val="223044"/>
                </a:solidFill>
                <a:sym typeface="+mn-ea"/>
              </a:rPr>
              <a:t>Road-scene question answering</a:t>
            </a:r>
            <a:endParaRPr sz="1350" i="0">
              <a:solidFill>
                <a:srgbClr val="223044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49" name="edge-row-dot-2"/>
          <p:cNvSpPr>
            <a:spLocks noGrp="1"/>
          </p:cNvSpPr>
          <p:nvPr/>
        </p:nvSpPr>
        <p:spPr>
          <a:xfrm>
            <a:off x="11409045" y="6657975"/>
            <a:ext cx="85725" cy="85725"/>
          </a:xfrm>
          <a:prstGeom prst="ellipse">
            <a:avLst/>
          </a:prstGeom>
          <a:solidFill>
            <a:srgbClr val="F3A41C"/>
          </a:solidFill>
          <a:ln w="0">
            <a:solidFill>
              <a:srgbClr val="F3A41C"/>
            </a:solidFill>
            <a:prstDash val="solid"/>
          </a:ln>
        </p:spPr>
      </p:sp>
      <p:sp>
        <p:nvSpPr>
          <p:cNvPr id="50" name="edge-row-2"/>
          <p:cNvSpPr>
            <a:spLocks noGrp="1"/>
          </p:cNvSpPr>
          <p:nvPr/>
        </p:nvSpPr>
        <p:spPr>
          <a:xfrm>
            <a:off x="11580495" y="6600825"/>
            <a:ext cx="25527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5F6C7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i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Semantic inference / reconstruction</a:t>
            </a:r>
            <a:endParaRPr sz="1350" b="1" i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</Words>
  <Application>WPS 演示</Application>
  <PresentationFormat>Converted Presentation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张昌钰</cp:lastModifiedBy>
  <cp:revision>4</cp:revision>
  <dcterms:created xsi:type="dcterms:W3CDTF">2026-07-29T03:41:00Z</dcterms:created>
  <dcterms:modified xsi:type="dcterms:W3CDTF">2026-08-07T09:32:22Z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2015FE44DDFD4D07A0C01A08F66D69B7_12</vt:lpwstr>
  </property>
  <property fmtid="{D5CDD505-2E9C-101B-9397-08002B2CF9AE}" pid="3" name="KSOProductBuildVer">
    <vt:lpwstr>2052-12.1.0.28043</vt:lpwstr>
  </property>
</Properties>
</file>